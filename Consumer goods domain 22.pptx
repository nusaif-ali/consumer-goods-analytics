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61" r:id="rId4"/>
    <p:sldId id="264" r:id="rId5"/>
    <p:sldId id="262" r:id="rId6"/>
    <p:sldId id="265" r:id="rId7"/>
    <p:sldId id="266" r:id="rId8"/>
    <p:sldId id="267" r:id="rId9"/>
    <p:sldId id="268" r:id="rId10"/>
    <p:sldId id="271" r:id="rId11"/>
    <p:sldId id="272" r:id="rId12"/>
    <p:sldId id="273" r:id="rId13"/>
    <p:sldId id="274" r:id="rId14"/>
    <p:sldId id="275" r:id="rId15"/>
    <p:sldId id="270" r:id="rId16"/>
    <p:sldId id="277" r:id="rId17"/>
    <p:sldId id="278" r:id="rId18"/>
    <p:sldId id="279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159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74BF7F-6CC3-46D2-BAD0-AE8080D9B90A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B3A13-7F56-46D6-B846-94D7CFFE9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17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B3A13-7F56-46D6-B846-94D7CFFE9E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297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B3A13-7F56-46D6-B846-94D7CFFE9E7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867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4389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Provide Insights to</a:t>
            </a:r>
            <a:br>
              <a:rPr/>
            </a:br>
            <a:r>
              <a:t>Management in</a:t>
            </a:r>
            <a:br>
              <a:rPr/>
            </a:br>
            <a:r>
              <a:t>Consumer Goods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424396"/>
            <a:ext cx="17696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sz="1400" b="1"/>
              <a:t>created by: Nusaif Ali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3399F-6F6A-829B-B278-99114C7BF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70" y="198120"/>
            <a:ext cx="1447800" cy="1447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265907-4871-4EED-D033-C1FF543A4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0"/>
            <a:ext cx="4477252" cy="2519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6"/>
    </mc:Choice>
    <mc:Fallback xmlns="">
      <p:transition spd="slow" advTm="630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383949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0000"/>
                </a:solidFill>
              </a:defRPr>
            </a:pPr>
            <a:r>
              <a:rPr lang="en-US"/>
              <a:t>Presentation Overview 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48581" y="2694038"/>
            <a:ext cx="6494206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</a:defRPr>
            </a:pPr>
            <a:r>
              <a:rPr b="1"/>
              <a:t>1</a:t>
            </a:r>
            <a:r>
              <a:t>. </a:t>
            </a:r>
            <a:r>
              <a:rPr lang="en-US"/>
              <a:t>Business Background &amp; Context</a:t>
            </a:r>
            <a:endParaRPr/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</a:defRPr>
            </a:pPr>
            <a:r>
              <a:rPr b="1"/>
              <a:t>2. </a:t>
            </a:r>
            <a:r>
              <a:rPr lang="en-US"/>
              <a:t>Overview of Company Operations, Markets         &amp; Products </a:t>
            </a:r>
            <a:endParaRPr/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</a:defRPr>
            </a:pPr>
            <a:r>
              <a:rPr b="1"/>
              <a:t>3. </a:t>
            </a:r>
            <a:r>
              <a:rPr lang="en-US"/>
              <a:t>Understanding the available data</a:t>
            </a:r>
            <a:endParaRPr/>
          </a:p>
          <a:p>
            <a:pPr>
              <a:spcAft>
                <a:spcPts val="1400"/>
              </a:spcAft>
              <a:defRPr sz="2600">
                <a:solidFill>
                  <a:srgbClr val="000000"/>
                </a:solidFill>
              </a:defRPr>
            </a:pPr>
            <a:r>
              <a:rPr b="1"/>
              <a:t>4. </a:t>
            </a:r>
            <a:r>
              <a:rPr lang="en-US"/>
              <a:t>Ad-hoc Business Queries, Insights &amp; Visualizations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9795" y="970841"/>
            <a:ext cx="3799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rPr lang="en-US" sz="2800"/>
              <a:t>1. </a:t>
            </a:r>
            <a:r>
              <a:rPr sz="2800"/>
              <a:t>Business </a:t>
            </a:r>
            <a:r>
              <a:rPr lang="en-US" sz="2800"/>
              <a:t>Background</a:t>
            </a:r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1097279" y="1828801"/>
            <a:ext cx="6758695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rPr sz="1600"/>
              <a:t>About the Company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Atliq</a:t>
            </a:r>
            <a:r>
              <a:rPr lang="en-US" sz="1600"/>
              <a:t> </a:t>
            </a:r>
            <a:r>
              <a:rPr sz="1600"/>
              <a:t>Hardware</a:t>
            </a:r>
            <a:r>
              <a:rPr lang="en-US" sz="1600"/>
              <a:t>s</a:t>
            </a:r>
            <a:r>
              <a:rPr sz="1600"/>
              <a:t> is a hypothetical organization and a well-known manufacturer of computer hardware products across India.</a:t>
            </a:r>
          </a:p>
          <a:p>
            <a:pPr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rPr sz="1600"/>
              <a:t>Business Situation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The management identified challenges in accessing timely and meaningful insights for quick, data-driven decision-making.</a:t>
            </a:r>
          </a:p>
          <a:p>
            <a:pPr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rPr sz="1600"/>
              <a:t>Challenge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The organization received several ad-hoc business questions that required analytical insights.</a:t>
            </a:r>
          </a:p>
          <a:p>
            <a:pPr>
              <a:spcAft>
                <a:spcPts val="600"/>
              </a:spcAft>
              <a:defRPr sz="2200" b="1">
                <a:solidFill>
                  <a:srgbClr val="000000"/>
                </a:solidFill>
              </a:defRPr>
            </a:pPr>
            <a:r>
              <a:rPr sz="1600"/>
              <a:t>Methodology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rPr sz="1600"/>
              <a:t>SQL-based analysis was performed, and the results were converted into visual insights to support senior management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90456"/>
            <a:ext cx="42139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/>
              <a:t>2.1 - </a:t>
            </a:r>
            <a:r>
              <a:t>Company's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03" y="4716998"/>
            <a:ext cx="45139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sz="1600"/>
              <a:t>Market &amp; Customers</a:t>
            </a:r>
          </a:p>
          <a:p>
            <a:pPr>
              <a:defRPr sz="1800"/>
            </a:pPr>
            <a:r>
              <a:rPr sz="1600"/>
              <a:t>Atliq operates across multiple global markets and serves a wide customer base. The company has a presence in regions such as North America, Latin America, Asia Pacific, and Europe. This global footprint enables data-driven market strategies tailored to regional and customer-specific needs.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107033-1FAD-D917-449D-66A71358B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98301"/>
            <a:ext cx="9115786" cy="4134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9459" y="1138576"/>
            <a:ext cx="36649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/>
              <a:t>2.2 </a:t>
            </a:r>
            <a:r>
              <a:t>Company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459" y="2067142"/>
            <a:ext cx="6621043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Atliq Hardware is a consumer electronics company that manufactures and sells hardware products to various customer segments.</a:t>
            </a:r>
          </a:p>
          <a:p>
            <a:pPr>
              <a:spcAft>
                <a:spcPts val="800"/>
              </a:spcAft>
              <a:defRPr sz="1800"/>
            </a:pPr>
            <a:r>
              <a:t>The company offers a wide range of products, organized into three major divisions to improve operational efficiency and performance tracking:</a:t>
            </a:r>
          </a:p>
          <a:p>
            <a:pPr>
              <a:spcAft>
                <a:spcPts val="800"/>
              </a:spcAft>
              <a:defRPr sz="1800"/>
            </a:pPr>
            <a:r>
              <a:t>• Network &amp; Storage: Routers, Drivers, Wi‑Fi Extenders</a:t>
            </a:r>
          </a:p>
          <a:p>
            <a:pPr>
              <a:spcAft>
                <a:spcPts val="800"/>
              </a:spcAft>
              <a:defRPr sz="1800"/>
            </a:pPr>
            <a:r>
              <a:t>• Peripherals &amp; Accessories: Mouse, Batteries, Graphic Cards, etc.</a:t>
            </a:r>
          </a:p>
          <a:p>
            <a:pPr>
              <a:spcAft>
                <a:spcPts val="800"/>
              </a:spcAft>
              <a:defRPr sz="1800"/>
            </a:pPr>
            <a:r>
              <a:t>• Personal Computers: Desktops and Laptops</a:t>
            </a:r>
          </a:p>
          <a:p>
            <a:pPr>
              <a:spcAft>
                <a:spcPts val="800"/>
              </a:spcAft>
              <a:defRPr sz="1800"/>
            </a:pPr>
            <a:r>
              <a:t>These divisions help the company analyze sales trends, monitor margins, and make data‑driven decisions across product categories.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49267" y="21631"/>
            <a:ext cx="2594733" cy="1502369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</a:rPr>
              <a:t>FISCAL YEAR</a:t>
            </a:r>
          </a:p>
          <a:p>
            <a:endParaRPr sz="1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</a:rPr>
              <a:t>September 2019 – August 2020</a:t>
            </a:r>
          </a:p>
          <a:p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</a:rPr>
              <a:t>(FY 2020)</a:t>
            </a:r>
          </a:p>
          <a:p>
            <a:endParaRPr sz="1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</a:rPr>
              <a:t>September 2020 – August 2021</a:t>
            </a:r>
          </a:p>
          <a:p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</a:rPr>
              <a:t>(FY 2021)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E8BD5-0341-3BD3-E2A1-4DF022742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1114607"/>
            <a:ext cx="5759457" cy="448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654870-EE97-7C90-5A60-34B61860FE3E}"/>
              </a:ext>
            </a:extLst>
          </p:cNvPr>
          <p:cNvSpPr txBox="1"/>
          <p:nvPr/>
        </p:nvSpPr>
        <p:spPr>
          <a:xfrm>
            <a:off x="634181" y="1892710"/>
            <a:ext cx="20303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The input dataset contains sales data for FY 2020 and FY 2021, along with multiple dimension tables such as customer details, product information, market data, and pricing attributes.</a:t>
            </a:r>
            <a:endParaRPr lang="en-IN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7D3AB-076C-61A3-E686-6D40D0104B35}"/>
              </a:ext>
            </a:extLst>
          </p:cNvPr>
          <p:cNvSpPr txBox="1"/>
          <p:nvPr/>
        </p:nvSpPr>
        <p:spPr>
          <a:xfrm>
            <a:off x="344129" y="196646"/>
            <a:ext cx="4955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3. Understanding the available data</a:t>
            </a:r>
            <a:endParaRPr lang="en-US" sz="2400"/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5639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23A2-8565-F53C-D753-770DDC745B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100" b="1"/>
              <a:t>4. Ad-hoc Business Queries, Insights &amp; Visualizations</a:t>
            </a:r>
            <a:br>
              <a:rPr lang="en-US"/>
            </a:b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069D11-F09A-E90A-87B0-F25A98B8C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990600"/>
            <a:ext cx="88011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8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164FD7-B384-B68C-05A6-422D5A17A0EC}"/>
              </a:ext>
            </a:extLst>
          </p:cNvPr>
          <p:cNvSpPr txBox="1"/>
          <p:nvPr/>
        </p:nvSpPr>
        <p:spPr>
          <a:xfrm>
            <a:off x="363793" y="275303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1</a:t>
            </a:r>
            <a:endParaRPr lang="en-IN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7DF7F-C070-553F-0FF6-7B29E7B033E0}"/>
              </a:ext>
            </a:extLst>
          </p:cNvPr>
          <p:cNvSpPr txBox="1"/>
          <p:nvPr/>
        </p:nvSpPr>
        <p:spPr>
          <a:xfrm>
            <a:off x="235975" y="412955"/>
            <a:ext cx="54962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endParaRPr lang="en-IN"/>
          </a:p>
          <a:p>
            <a:r>
              <a:rPr lang="en-US"/>
              <a:t> 1. Provide the list of markets in which customer "Atliq Exclusive" operates its business in the APAC region. 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91AC4-E6CE-6753-BFD3-F25E21180313}"/>
              </a:ext>
            </a:extLst>
          </p:cNvPr>
          <p:cNvSpPr txBox="1"/>
          <p:nvPr/>
        </p:nvSpPr>
        <p:spPr>
          <a:xfrm>
            <a:off x="363793" y="1735489"/>
            <a:ext cx="6007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Insights</a:t>
            </a:r>
          </a:p>
          <a:p>
            <a:r>
              <a:rPr lang="en-IN"/>
              <a:t> In the APAC region, our exclusive store has established its presence in 8 major markets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50E9EAA-DB66-CCF0-B01B-615315DE5C53}"/>
              </a:ext>
            </a:extLst>
          </p:cNvPr>
          <p:cNvSpPr/>
          <p:nvPr/>
        </p:nvSpPr>
        <p:spPr>
          <a:xfrm>
            <a:off x="147481" y="1773420"/>
            <a:ext cx="235975" cy="3335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AD534B-789E-9C50-052D-BD4472C5A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3" y="2696750"/>
            <a:ext cx="8465574" cy="401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0609-8BEF-9303-BD29-6E6CA0F9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925E46-15F3-BD7E-1195-115E1224FFC9}"/>
              </a:ext>
            </a:extLst>
          </p:cNvPr>
          <p:cNvSpPr txBox="1"/>
          <p:nvPr/>
        </p:nvSpPr>
        <p:spPr>
          <a:xfrm>
            <a:off x="0" y="0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2</a:t>
            </a:r>
            <a:endParaRPr lang="en-IN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97C1EC-60D5-40BC-E1F7-A275C1559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155" y="1618044"/>
            <a:ext cx="4610743" cy="457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B2171F-E818-DB81-83BA-EF121C2D7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54" y="942614"/>
            <a:ext cx="4326446" cy="31613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5F218B-1A52-3BAE-DA10-ACE79419C4C8}"/>
              </a:ext>
            </a:extLst>
          </p:cNvPr>
          <p:cNvSpPr txBox="1"/>
          <p:nvPr/>
        </p:nvSpPr>
        <p:spPr>
          <a:xfrm>
            <a:off x="-108155" y="369332"/>
            <a:ext cx="86917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2. What is the percentage of unique product increase in 2021 vs. 2020? The final output contains these fields, </a:t>
            </a:r>
            <a:r>
              <a:rPr lang="en-US" b="1"/>
              <a:t>unique_products_2020 </a:t>
            </a:r>
          </a:p>
          <a:p>
            <a:r>
              <a:rPr lang="en-US" b="1"/>
              <a:t>unique_products_2021 </a:t>
            </a:r>
          </a:p>
          <a:p>
            <a:r>
              <a:rPr lang="en-US" b="1"/>
              <a:t>percentage_chg</a:t>
            </a:r>
            <a:endParaRPr lang="en-IN" b="1"/>
          </a:p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11A8A-B7DD-396B-B4F3-CDA79EE1306C}"/>
              </a:ext>
            </a:extLst>
          </p:cNvPr>
          <p:cNvSpPr txBox="1"/>
          <p:nvPr/>
        </p:nvSpPr>
        <p:spPr>
          <a:xfrm>
            <a:off x="201561" y="4475524"/>
            <a:ext cx="76445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Insights</a:t>
            </a:r>
          </a:p>
          <a:p>
            <a:endParaRPr lang="en-US" b="1"/>
          </a:p>
          <a:p>
            <a:r>
              <a:rPr lang="en-US"/>
              <a:t>The increase in the number of unique products indicates a strong focus on innovation and product expansion. Between FY 2020 and FY 2021, the product portfolio grew by over </a:t>
            </a:r>
            <a:r>
              <a:rPr lang="en-US" b="1"/>
              <a:t>36%</a:t>
            </a:r>
            <a:r>
              <a:rPr lang="en-US"/>
              <a:t>, reflecting the company’s ability to consistently introduce new offerings and strengthen its market presence.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010167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AF8A0-7D2C-E1D0-D8C5-C3FC8753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82FDB4-B60F-B732-41B3-643FAA5BF62D}"/>
              </a:ext>
            </a:extLst>
          </p:cNvPr>
          <p:cNvSpPr txBox="1"/>
          <p:nvPr/>
        </p:nvSpPr>
        <p:spPr>
          <a:xfrm>
            <a:off x="0" y="-19665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3</a:t>
            </a:r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60E618-E20E-32FE-A65F-D8290693A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" y="1194127"/>
            <a:ext cx="2124371" cy="1505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F73318-1A78-BF0E-8A44-0505C17D2FC2}"/>
              </a:ext>
            </a:extLst>
          </p:cNvPr>
          <p:cNvSpPr txBox="1"/>
          <p:nvPr/>
        </p:nvSpPr>
        <p:spPr>
          <a:xfrm>
            <a:off x="-9832" y="0"/>
            <a:ext cx="84852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r>
              <a:rPr lang="en-US"/>
              <a:t> 3. Provide a report with all the unique product counts for each segment and sort them in descending order of product counts. The final output contains 2 fields, segment product_count</a:t>
            </a:r>
            <a:endParaRPr lang="en-IN"/>
          </a:p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44EA1C-8D16-1702-1652-2957C7AE7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424" y="939617"/>
            <a:ext cx="5443745" cy="351934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F8F4286-11F2-C3B9-1567-426E0C97BC69}"/>
              </a:ext>
            </a:extLst>
          </p:cNvPr>
          <p:cNvSpPr/>
          <p:nvPr/>
        </p:nvSpPr>
        <p:spPr>
          <a:xfrm>
            <a:off x="2287777" y="1704391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CA20A2-F885-9ACE-4617-1C01B35C9C67}"/>
              </a:ext>
            </a:extLst>
          </p:cNvPr>
          <p:cNvSpPr txBox="1"/>
          <p:nvPr/>
        </p:nvSpPr>
        <p:spPr>
          <a:xfrm>
            <a:off x="19665" y="4256390"/>
            <a:ext cx="82590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Key Insights</a:t>
            </a:r>
          </a:p>
          <a:p>
            <a:r>
              <a:rPr lang="en-US" sz="1400" b="1"/>
              <a:t>Notebook</a:t>
            </a:r>
            <a:r>
              <a:rPr lang="en-US" sz="1400"/>
              <a:t> has the highest number of unique products (</a:t>
            </a:r>
            <a:r>
              <a:rPr lang="en-US" sz="1400" b="1"/>
              <a:t>129</a:t>
            </a:r>
            <a:r>
              <a:rPr lang="en-US" sz="1400"/>
              <a:t>), indicating a strong focus on laptops.</a:t>
            </a:r>
          </a:p>
          <a:p>
            <a:r>
              <a:rPr lang="en-US" sz="1400" b="1"/>
              <a:t>Accessories (116)</a:t>
            </a:r>
            <a:r>
              <a:rPr lang="en-US" sz="1400"/>
              <a:t> and </a:t>
            </a:r>
            <a:r>
              <a:rPr lang="en-US" sz="1400" b="1"/>
              <a:t>Peripherals (84)</a:t>
            </a:r>
            <a:r>
              <a:rPr lang="en-US" sz="1400"/>
              <a:t> are also significant segments, suggesting high demand for add-on and supporting products.</a:t>
            </a:r>
          </a:p>
          <a:p>
            <a:r>
              <a:rPr lang="en-US" sz="1400" b="1"/>
              <a:t>Desktop (32)</a:t>
            </a:r>
            <a:r>
              <a:rPr lang="en-US" sz="1400"/>
              <a:t> and </a:t>
            </a:r>
            <a:r>
              <a:rPr lang="en-US" sz="1400" b="1"/>
              <a:t>Storage (27)</a:t>
            </a:r>
            <a:r>
              <a:rPr lang="en-US" sz="1400"/>
              <a:t> have comparatively fewer products, indicating limited product variety.</a:t>
            </a:r>
          </a:p>
          <a:p>
            <a:r>
              <a:rPr lang="en-US" sz="1400" b="1"/>
              <a:t>Networking (9)</a:t>
            </a:r>
            <a:r>
              <a:rPr lang="en-US" sz="1400"/>
              <a:t> has the lowest product count, showing it is not a primary focus area for the company.</a:t>
            </a:r>
          </a:p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F24D4A-D287-770E-7C28-4A48514C54D8}"/>
              </a:ext>
            </a:extLst>
          </p:cNvPr>
          <p:cNvSpPr txBox="1"/>
          <p:nvPr/>
        </p:nvSpPr>
        <p:spPr>
          <a:xfrm>
            <a:off x="-19664" y="5653084"/>
            <a:ext cx="8819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Conclusion</a:t>
            </a:r>
          </a:p>
          <a:p>
            <a:r>
              <a:rPr lang="en-US" sz="1400"/>
              <a:t>The company’s product portfolio is heavily concentrated in </a:t>
            </a:r>
            <a:r>
              <a:rPr lang="en-US" sz="1400" b="1"/>
              <a:t>Notebooks, Accessories, and Peripherals</a:t>
            </a:r>
            <a:r>
              <a:rPr lang="en-US" sz="1400"/>
              <a:t>, which form the core business segments. In contrast, </a:t>
            </a:r>
            <a:r>
              <a:rPr lang="en-US" sz="1400" b="1"/>
              <a:t>Networking</a:t>
            </a:r>
            <a:r>
              <a:rPr lang="en-US" sz="1400"/>
              <a:t> remains a smaller segment with minimal product variety.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25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438A-21A8-FCA9-872B-4B2D7C05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8874F-8E30-5A88-A598-039282EEB9B8}"/>
              </a:ext>
            </a:extLst>
          </p:cNvPr>
          <p:cNvSpPr txBox="1"/>
          <p:nvPr/>
        </p:nvSpPr>
        <p:spPr>
          <a:xfrm>
            <a:off x="0" y="-19665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4</a:t>
            </a:r>
            <a:endParaRPr lang="en-IN" b="1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21DAEC7-3AD5-30C1-64A3-A321FAF3CEF4}"/>
              </a:ext>
            </a:extLst>
          </p:cNvPr>
          <p:cNvSpPr/>
          <p:nvPr/>
        </p:nvSpPr>
        <p:spPr>
          <a:xfrm>
            <a:off x="4367415" y="2101550"/>
            <a:ext cx="349045" cy="21260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CBD0B-4B84-5012-1618-302CB3FADB17}"/>
              </a:ext>
            </a:extLst>
          </p:cNvPr>
          <p:cNvSpPr txBox="1"/>
          <p:nvPr/>
        </p:nvSpPr>
        <p:spPr>
          <a:xfrm>
            <a:off x="19665" y="4285439"/>
            <a:ext cx="29428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Key Insights</a:t>
            </a:r>
          </a:p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E3058-F1A8-FAAA-502F-23D53875CFB7}"/>
              </a:ext>
            </a:extLst>
          </p:cNvPr>
          <p:cNvSpPr txBox="1"/>
          <p:nvPr/>
        </p:nvSpPr>
        <p:spPr>
          <a:xfrm>
            <a:off x="-19664" y="5653084"/>
            <a:ext cx="8819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Conclusion</a:t>
            </a:r>
          </a:p>
          <a:p>
            <a:r>
              <a:rPr lang="en-US" sz="1600"/>
              <a:t>The company is investing more in popular product categories and less in smaller ones.</a:t>
            </a:r>
            <a:endParaRPr lang="en-IN" sz="1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CD930-61CD-F633-EA83-F6DFE5A77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5" y="1602953"/>
            <a:ext cx="4404325" cy="14224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8C2343-83FA-2CEF-4FC1-B5B7D9BA5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675" y="1133850"/>
            <a:ext cx="4391660" cy="3122540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6DB059DB-FC0E-C109-B71E-84E4754F9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4" y="4669506"/>
            <a:ext cx="878020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expansion is strongest in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Accessories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core computing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Notebook and Peripherals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continue to be key focus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remains the smallest and least prioritized segment.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97AF2-53C2-520A-9AD9-F934DF73449D}"/>
              </a:ext>
            </a:extLst>
          </p:cNvPr>
          <p:cNvSpPr txBox="1"/>
          <p:nvPr/>
        </p:nvSpPr>
        <p:spPr>
          <a:xfrm>
            <a:off x="-9833" y="-234852"/>
            <a:ext cx="88765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endParaRPr lang="en-IN"/>
          </a:p>
          <a:p>
            <a:r>
              <a:rPr lang="en-US"/>
              <a:t> 4. Follow-up: Which segment had the most increase in unique products in 2021 vs 2020? The final output contains these fields, </a:t>
            </a:r>
            <a:r>
              <a:rPr lang="en-US" b="1"/>
              <a:t>segment, product_count_2020, product_count_2021, difference 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2416212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50DB-6EA5-7017-08DB-1E57A4EC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82760E-48A3-C6EC-0CF2-AE7C6E9B61AB}"/>
              </a:ext>
            </a:extLst>
          </p:cNvPr>
          <p:cNvSpPr txBox="1"/>
          <p:nvPr/>
        </p:nvSpPr>
        <p:spPr>
          <a:xfrm>
            <a:off x="0" y="-19665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5</a:t>
            </a:r>
            <a:endParaRPr lang="en-IN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5D9FC-B0B4-137A-A895-8F9D9EF9BFA7}"/>
              </a:ext>
            </a:extLst>
          </p:cNvPr>
          <p:cNvSpPr txBox="1"/>
          <p:nvPr/>
        </p:nvSpPr>
        <p:spPr>
          <a:xfrm>
            <a:off x="12736" y="-712162"/>
            <a:ext cx="8485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r>
              <a:rPr lang="en-US"/>
              <a:t> 5. Get the products that have the highest and lowest manufacturing costs. The final output should contain these fields, </a:t>
            </a:r>
            <a:r>
              <a:rPr lang="en-US" b="1"/>
              <a:t>product_code, product, manufacturing_cost </a:t>
            </a:r>
            <a:endParaRPr lang="en-IN" sz="1600" b="1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A270218-12F5-7D60-E06A-0CB02C7BA0F0}"/>
              </a:ext>
            </a:extLst>
          </p:cNvPr>
          <p:cNvSpPr/>
          <p:nvPr/>
        </p:nvSpPr>
        <p:spPr>
          <a:xfrm>
            <a:off x="2484422" y="1852000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D0D14-89E8-2C67-FF9C-473557041A64}"/>
              </a:ext>
            </a:extLst>
          </p:cNvPr>
          <p:cNvSpPr txBox="1"/>
          <p:nvPr/>
        </p:nvSpPr>
        <p:spPr>
          <a:xfrm>
            <a:off x="12736" y="4883205"/>
            <a:ext cx="14155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Key Insights</a:t>
            </a:r>
          </a:p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B9E55-3570-D459-F33F-991D811BB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146"/>
            <a:ext cx="4525058" cy="665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7C5A02-AE21-F609-6761-61AC32A6D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799" y="2428773"/>
            <a:ext cx="875345" cy="8753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0D0214-33CA-425C-0FF0-D78618BE93A3}"/>
              </a:ext>
            </a:extLst>
          </p:cNvPr>
          <p:cNvSpPr txBox="1"/>
          <p:nvPr/>
        </p:nvSpPr>
        <p:spPr>
          <a:xfrm>
            <a:off x="3765800" y="2123158"/>
            <a:ext cx="875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$250.54</a:t>
            </a:r>
            <a:endParaRPr lang="en-IN" sz="1600" b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37B575-EAC9-46DE-9956-9964D9109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943" y="2472971"/>
            <a:ext cx="840985" cy="8753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09AA32-AF52-BC92-FD5E-185D8907B83F}"/>
              </a:ext>
            </a:extLst>
          </p:cNvPr>
          <p:cNvSpPr txBox="1"/>
          <p:nvPr/>
        </p:nvSpPr>
        <p:spPr>
          <a:xfrm>
            <a:off x="6565799" y="2167355"/>
            <a:ext cx="875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$0.89</a:t>
            </a:r>
            <a:endParaRPr lang="en-IN" sz="1600" b="1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A3F84E4-EEEB-7F99-51DD-5EFD878C5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680950"/>
              </p:ext>
            </p:extLst>
          </p:nvPr>
        </p:nvGraphicFramePr>
        <p:xfrm>
          <a:off x="3462830" y="3279563"/>
          <a:ext cx="1745226" cy="1280160"/>
        </p:xfrm>
        <a:graphic>
          <a:graphicData uri="http://schemas.openxmlformats.org/drawingml/2006/table">
            <a:tbl>
              <a:tblPr/>
              <a:tblGrid>
                <a:gridCol w="1745226">
                  <a:extLst>
                    <a:ext uri="{9D8B030D-6E8A-4147-A177-3AD203B41FA5}">
                      <a16:colId xmlns:a16="http://schemas.microsoft.com/office/drawing/2014/main" val="4259284488"/>
                    </a:ext>
                  </a:extLst>
                </a:gridCol>
              </a:tblGrid>
              <a:tr h="1932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AQ HOME Allin1 Gen 2      </a:t>
                      </a:r>
                    </a:p>
                    <a:p>
                      <a:pPr algn="ctr">
                        <a:buNone/>
                      </a:pPr>
                      <a:r>
                        <a:rPr lang="en-US" sz="1400"/>
                        <a:t>Personal Desktop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624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794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4324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6C6FCA8-6070-3152-7491-091886886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478817"/>
              </p:ext>
            </p:extLst>
          </p:nvPr>
        </p:nvGraphicFramePr>
        <p:xfrm>
          <a:off x="6169742" y="3294765"/>
          <a:ext cx="2403987" cy="518160"/>
        </p:xfrm>
        <a:graphic>
          <a:graphicData uri="http://schemas.openxmlformats.org/drawingml/2006/table">
            <a:tbl>
              <a:tblPr/>
              <a:tblGrid>
                <a:gridCol w="2403987">
                  <a:extLst>
                    <a:ext uri="{9D8B030D-6E8A-4147-A177-3AD203B41FA5}">
                      <a16:colId xmlns:a16="http://schemas.microsoft.com/office/drawing/2014/main" val="446263650"/>
                    </a:ext>
                  </a:extLst>
                </a:gridCol>
              </a:tblGrid>
              <a:tr h="46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AQ Master wired x1 Ms</a:t>
                      </a:r>
                    </a:p>
                    <a:p>
                      <a:pPr>
                        <a:buNone/>
                      </a:pPr>
                      <a:r>
                        <a:rPr lang="en-US" sz="1400"/>
                        <a:t>            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928342"/>
                  </a:ext>
                </a:extLst>
              </a:tr>
            </a:tbl>
          </a:graphicData>
        </a:graphic>
      </p:graphicFrame>
      <p:sp>
        <p:nvSpPr>
          <p:cNvPr id="24" name="Rectangle 2">
            <a:extLst>
              <a:ext uri="{FF2B5EF4-FFF2-40B4-BE49-F238E27FC236}">
                <a16:creationId xmlns:a16="http://schemas.microsoft.com/office/drawing/2014/main" id="{618253A0-D13F-C786-5786-32438A559DA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736" y="5264416"/>
            <a:ext cx="670338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AQ Home Allin1 Gen 2 – Personal Desktop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manufacturing cost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$240.54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that desktop products are significantly more expensive to produce compared to other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AQ Master Wired X1 MS – Mouse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manufacturing cost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$0.89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that basic peripherals can be produced at very low cost.</a:t>
            </a:r>
          </a:p>
        </p:txBody>
      </p:sp>
    </p:spTree>
    <p:extLst>
      <p:ext uri="{BB962C8B-B14F-4D97-AF65-F5344CB8AC3E}">
        <p14:creationId xmlns:p14="http://schemas.microsoft.com/office/powerpoint/2010/main" val="356252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D1FFD-B54E-A18C-6904-2BE8642C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1DF831-9337-B670-AFEE-24506CA30B34}"/>
              </a:ext>
            </a:extLst>
          </p:cNvPr>
          <p:cNvSpPr txBox="1"/>
          <p:nvPr/>
        </p:nvSpPr>
        <p:spPr>
          <a:xfrm>
            <a:off x="68824" y="-19665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6</a:t>
            </a:r>
            <a:endParaRPr lang="en-IN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F3485-43A6-21A7-A4E4-C9FD02E16C94}"/>
              </a:ext>
            </a:extLst>
          </p:cNvPr>
          <p:cNvSpPr txBox="1"/>
          <p:nvPr/>
        </p:nvSpPr>
        <p:spPr>
          <a:xfrm>
            <a:off x="-29495" y="-433775"/>
            <a:ext cx="91341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endParaRPr lang="en-IN"/>
          </a:p>
          <a:p>
            <a:endParaRPr lang="en-IN" sz="1600"/>
          </a:p>
          <a:p>
            <a:r>
              <a:rPr lang="en-US" sz="1600"/>
              <a:t>6. Generate a report which contains the top 5 customers who received an average high pre_invoice_discount_pct for the fiscal year 2021 and in the Indian market. The final output contains these field</a:t>
            </a:r>
            <a:r>
              <a:rPr lang="en-US" sz="1600" b="1"/>
              <a:t>s, customer_code customer average_discount_percentage </a:t>
            </a:r>
            <a:endParaRPr lang="en-IN" sz="1600" b="1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DCC179A-206C-F57B-AF09-C7AB9A8E2BF8}"/>
              </a:ext>
            </a:extLst>
          </p:cNvPr>
          <p:cNvSpPr/>
          <p:nvPr/>
        </p:nvSpPr>
        <p:spPr>
          <a:xfrm>
            <a:off x="4698096" y="2101550"/>
            <a:ext cx="349045" cy="21260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5456E6-B67F-142F-0F9E-22006E60D83A}"/>
              </a:ext>
            </a:extLst>
          </p:cNvPr>
          <p:cNvSpPr txBox="1"/>
          <p:nvPr/>
        </p:nvSpPr>
        <p:spPr>
          <a:xfrm>
            <a:off x="19665" y="4285439"/>
            <a:ext cx="29428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Key Insights</a:t>
            </a:r>
          </a:p>
          <a:p>
            <a:endParaRPr lang="en-IN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AFA9A59-284A-863C-D9A3-3271E6493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33303"/>
            <a:ext cx="878020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/>
              <a:t>In 2021, the company offered </a:t>
            </a:r>
            <a:r>
              <a:rPr lang="en-US" sz="1600" b="1"/>
              <a:t>almost the same pre-invoice discount levels</a:t>
            </a:r>
            <a:r>
              <a:rPr lang="en-US" sz="1600"/>
              <a:t> to its top five customers in the Indian market, indicating a </a:t>
            </a:r>
            <a:r>
              <a:rPr lang="en-US" sz="1600" b="1"/>
              <a:t>consistent and standardized discount strategy</a:t>
            </a:r>
            <a:r>
              <a:rPr lang="en-US" sz="1600"/>
              <a:t>.</a:t>
            </a:r>
            <a:br>
              <a:rPr lang="en-US" sz="1600"/>
            </a:br>
            <a:r>
              <a:rPr lang="en-US" sz="1600"/>
              <a:t>Among these customers, </a:t>
            </a:r>
            <a:r>
              <a:rPr lang="en-US" sz="1600" b="1"/>
              <a:t>Flipkart</a:t>
            </a:r>
            <a:r>
              <a:rPr lang="en-US" sz="1600"/>
              <a:t> received the </a:t>
            </a:r>
            <a:r>
              <a:rPr lang="en-US" sz="1600" b="1"/>
              <a:t>highest average discount (30.83%)</a:t>
            </a:r>
            <a:r>
              <a:rPr lang="en-US" sz="1600"/>
              <a:t>, followed closely by </a:t>
            </a:r>
            <a:r>
              <a:rPr lang="en-US" sz="1600" b="1"/>
              <a:t>Viveks, Ezone, and Croma</a:t>
            </a:r>
            <a:r>
              <a:rPr lang="en-US" sz="1600"/>
              <a:t>, while </a:t>
            </a:r>
            <a:r>
              <a:rPr lang="en-US" sz="1600" b="1"/>
              <a:t>Amazon</a:t>
            </a:r>
            <a:r>
              <a:rPr lang="en-US" sz="1600"/>
              <a:t> received a slightly lower discount at </a:t>
            </a:r>
            <a:r>
              <a:rPr lang="en-US" sz="1600" b="1"/>
              <a:t>29.33%</a:t>
            </a:r>
            <a:r>
              <a:rPr lang="en-US" sz="1600"/>
              <a:t>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AD91C5-4E6D-FFFA-2122-52C3460A5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5" y="1529503"/>
            <a:ext cx="4496427" cy="1295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9A91F1-A636-DE35-0402-5A21AFD84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214" y="1467403"/>
            <a:ext cx="3777307" cy="257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18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CC7A1-12C9-C871-685F-9E59C5E2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CABC36-DEC9-6A60-F8B9-94C1FF8893D8}"/>
              </a:ext>
            </a:extLst>
          </p:cNvPr>
          <p:cNvSpPr txBox="1"/>
          <p:nvPr/>
        </p:nvSpPr>
        <p:spPr>
          <a:xfrm>
            <a:off x="68824" y="-19665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7</a:t>
            </a:r>
            <a:endParaRPr lang="en-IN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C28CA-4DCB-3769-2E56-C3CA8E9AFF11}"/>
              </a:ext>
            </a:extLst>
          </p:cNvPr>
          <p:cNvSpPr txBox="1"/>
          <p:nvPr/>
        </p:nvSpPr>
        <p:spPr>
          <a:xfrm>
            <a:off x="68824" y="45625"/>
            <a:ext cx="9134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r>
              <a:rPr lang="en-US"/>
              <a:t>7. Get the complete report of the Gross sales amount for the customer </a:t>
            </a:r>
            <a:r>
              <a:rPr lang="en-US" b="1"/>
              <a:t>“Atliq Exclusive” </a:t>
            </a:r>
            <a:r>
              <a:rPr lang="en-US"/>
              <a:t>for each month </a:t>
            </a:r>
            <a:r>
              <a:rPr lang="en-US" b="1"/>
              <a:t>. </a:t>
            </a:r>
            <a:r>
              <a:rPr lang="en-US"/>
              <a:t>This analysis helps to get an idea of low and high-performing months and take strategic decisions. The final report contains these columns: </a:t>
            </a:r>
            <a:r>
              <a:rPr lang="en-US" b="1"/>
              <a:t>Month, Year, Gross sales Amount </a:t>
            </a:r>
            <a:endParaRPr lang="en-IN" sz="16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B57EEA-5A8D-C5F9-8A5E-71F552EB4E41}"/>
              </a:ext>
            </a:extLst>
          </p:cNvPr>
          <p:cNvSpPr txBox="1"/>
          <p:nvPr/>
        </p:nvSpPr>
        <p:spPr>
          <a:xfrm>
            <a:off x="19665" y="4285439"/>
            <a:ext cx="29428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1">
              <a:solidFill>
                <a:srgbClr val="FF0000"/>
              </a:solidFill>
            </a:endParaRPr>
          </a:p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3C109-D5D3-B0F5-A212-853B349A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612" y="1311244"/>
            <a:ext cx="2202245" cy="469288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59F303-341C-B209-6AE6-71551E0448D3}"/>
              </a:ext>
            </a:extLst>
          </p:cNvPr>
          <p:cNvCxnSpPr/>
          <p:nvPr/>
        </p:nvCxnSpPr>
        <p:spPr>
          <a:xfrm>
            <a:off x="5535561" y="3716594"/>
            <a:ext cx="3608439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19E52F3-3E58-9C39-C685-5C2055FE3D50}"/>
              </a:ext>
            </a:extLst>
          </p:cNvPr>
          <p:cNvSpPr txBox="1"/>
          <p:nvPr/>
        </p:nvSpPr>
        <p:spPr>
          <a:xfrm>
            <a:off x="8550857" y="2144587"/>
            <a:ext cx="504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tx2">
                    <a:lumMod val="60000"/>
                    <a:lumOff val="40000"/>
                  </a:schemeClr>
                </a:solidFill>
              </a:rPr>
              <a:t>FY 2020</a:t>
            </a:r>
            <a:endParaRPr lang="en-IN" sz="12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92004B-D525-FB59-C72A-50D977F7A79A}"/>
              </a:ext>
            </a:extLst>
          </p:cNvPr>
          <p:cNvSpPr txBox="1"/>
          <p:nvPr/>
        </p:nvSpPr>
        <p:spPr>
          <a:xfrm>
            <a:off x="8595102" y="4398695"/>
            <a:ext cx="504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tx2">
                    <a:lumMod val="60000"/>
                    <a:lumOff val="40000"/>
                  </a:schemeClr>
                </a:solidFill>
              </a:rPr>
              <a:t>FY 2021</a:t>
            </a:r>
            <a:endParaRPr lang="en-IN" sz="12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241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310FD-398A-8227-B490-566E4B30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1" y="248373"/>
            <a:ext cx="8842937" cy="29569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877792-53A0-B33E-950E-343614EA2DDA}"/>
              </a:ext>
            </a:extLst>
          </p:cNvPr>
          <p:cNvSpPr txBox="1"/>
          <p:nvPr/>
        </p:nvSpPr>
        <p:spPr>
          <a:xfrm>
            <a:off x="150531" y="3652684"/>
            <a:ext cx="1422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</a:rPr>
              <a:t>Insights</a:t>
            </a:r>
            <a:endParaRPr lang="en-IN" sz="2400" b="1">
              <a:solidFill>
                <a:srgbClr val="C00000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6EA822A-7D45-A998-221E-BE259561C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1874" y="4346636"/>
            <a:ext cx="90653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November 2020 recorded the highest sales</a:t>
            </a:r>
            <a:r>
              <a:rPr lang="en-US" sz="2000"/>
              <a:t>, while </a:t>
            </a:r>
            <a:r>
              <a:rPr lang="en-US" sz="2000" b="1"/>
              <a:t>March 2020 was the lowest</a:t>
            </a:r>
            <a:r>
              <a:rPr lang="en-US" sz="2000"/>
              <a:t> for Atliq Exclusive.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 </a:t>
            </a:r>
            <a:r>
              <a:rPr lang="en-US" sz="2000" b="1"/>
              <a:t>sales drop from March to August 2020 is mainly due to the impact of COVID-19</a:t>
            </a:r>
            <a:r>
              <a:rPr lang="en-US" sz="20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Sales </a:t>
            </a:r>
            <a:r>
              <a:rPr lang="en-US" sz="2000" b="1"/>
              <a:t>recovered strongly after August</a:t>
            </a:r>
            <a:r>
              <a:rPr lang="en-US" sz="2000"/>
              <a:t>, and </a:t>
            </a:r>
            <a:r>
              <a:rPr lang="en-US" sz="2000" b="1"/>
              <a:t>FY 2021 performed much better than FY 2020 overall</a:t>
            </a:r>
            <a:r>
              <a:rPr lang="en-US" sz="2000"/>
              <a:t>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CD403A-1B11-8D32-7975-24C4CC0C8E3F}"/>
              </a:ext>
            </a:extLst>
          </p:cNvPr>
          <p:cNvCxnSpPr/>
          <p:nvPr/>
        </p:nvCxnSpPr>
        <p:spPr>
          <a:xfrm>
            <a:off x="2019300" y="2316480"/>
            <a:ext cx="0" cy="71628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D87E27-79E1-A64B-EF53-0BA6FFFDC0DF}"/>
              </a:ext>
            </a:extLst>
          </p:cNvPr>
          <p:cNvCxnSpPr/>
          <p:nvPr/>
        </p:nvCxnSpPr>
        <p:spPr>
          <a:xfrm>
            <a:off x="6210300" y="2316480"/>
            <a:ext cx="0" cy="71628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261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F79B8-6C98-172F-6799-544D9F2A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4FCD26-6497-81C0-9D4D-E29DA3F0261E}"/>
              </a:ext>
            </a:extLst>
          </p:cNvPr>
          <p:cNvSpPr txBox="1"/>
          <p:nvPr/>
        </p:nvSpPr>
        <p:spPr>
          <a:xfrm>
            <a:off x="68824" y="-19665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8</a:t>
            </a:r>
            <a:endParaRPr lang="en-IN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327E2-0F60-4682-F914-223934691750}"/>
              </a:ext>
            </a:extLst>
          </p:cNvPr>
          <p:cNvSpPr txBox="1"/>
          <p:nvPr/>
        </p:nvSpPr>
        <p:spPr>
          <a:xfrm>
            <a:off x="12045" y="28979"/>
            <a:ext cx="9134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r>
              <a:rPr lang="en-US"/>
              <a:t>8. In which quarter of 2020, got the maximum total_sold_quantity? The final output contains these fields sorted by </a:t>
            </a:r>
            <a:r>
              <a:rPr lang="en-US" b="1"/>
              <a:t>the total_sold_quantity, Quarter total_sold_quantity.</a:t>
            </a:r>
            <a:endParaRPr lang="en-IN" sz="16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96C68-3B88-BE5E-BF1E-0F93DD193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857" y="952309"/>
            <a:ext cx="2360045" cy="1140689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F59FB032-680C-65B1-46EF-B46CD483EC59}"/>
              </a:ext>
            </a:extLst>
          </p:cNvPr>
          <p:cNvSpPr/>
          <p:nvPr/>
        </p:nvSpPr>
        <p:spPr>
          <a:xfrm>
            <a:off x="3671358" y="2105888"/>
            <a:ext cx="213360" cy="3251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98FDFA-38E9-46BF-902E-747A7D59B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46" y="2443898"/>
            <a:ext cx="5362344" cy="28163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7792467-6B20-C6AA-865D-B581DD79C264}"/>
              </a:ext>
            </a:extLst>
          </p:cNvPr>
          <p:cNvSpPr txBox="1"/>
          <p:nvPr/>
        </p:nvSpPr>
        <p:spPr>
          <a:xfrm>
            <a:off x="0" y="5127228"/>
            <a:ext cx="918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Insights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0FA9A6-AD1B-BE03-0EDB-9054016148FB}"/>
              </a:ext>
            </a:extLst>
          </p:cNvPr>
          <p:cNvSpPr txBox="1"/>
          <p:nvPr/>
        </p:nvSpPr>
        <p:spPr>
          <a:xfrm>
            <a:off x="-61286" y="5432623"/>
            <a:ext cx="88595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Atliq Hardware achieved its </a:t>
            </a:r>
            <a:r>
              <a:rPr lang="en-US" sz="1600" b="1"/>
              <a:t>highest total sales volume in Q1 of FY 2020</a:t>
            </a:r>
            <a:r>
              <a:rPr lang="en-US" sz="1600"/>
              <a:t>, with around </a:t>
            </a:r>
            <a:r>
              <a:rPr lang="en-US" sz="1600" b="1"/>
              <a:t>7.01 million units sold</a:t>
            </a:r>
            <a:r>
              <a:rPr lang="en-US" sz="1600"/>
              <a:t>.</a:t>
            </a:r>
          </a:p>
          <a:p>
            <a:r>
              <a:rPr lang="en-US" sz="1600"/>
              <a:t>The </a:t>
            </a:r>
            <a:r>
              <a:rPr lang="en-US" sz="1600" b="1"/>
              <a:t>lowest sales volume was recorded in Q3 of FY 2020</a:t>
            </a:r>
            <a:r>
              <a:rPr lang="en-US" sz="1600"/>
              <a:t>, at approximately </a:t>
            </a:r>
            <a:r>
              <a:rPr lang="en-US" sz="1600" b="1"/>
              <a:t>2.08 million units</a:t>
            </a:r>
            <a:r>
              <a:rPr lang="en-US" sz="1600"/>
              <a:t>.</a:t>
            </a:r>
          </a:p>
          <a:p>
            <a:r>
              <a:rPr lang="en-US" sz="1600"/>
              <a:t>The sharp decline in sales during </a:t>
            </a:r>
            <a:r>
              <a:rPr lang="en-US" sz="1600" b="1"/>
              <a:t>Q3</a:t>
            </a:r>
            <a:r>
              <a:rPr lang="en-US" sz="1600"/>
              <a:t> is most likely due to the </a:t>
            </a:r>
            <a:r>
              <a:rPr lang="en-US" sz="1600" b="1"/>
              <a:t>COVID-19 pandemic</a:t>
            </a:r>
            <a:r>
              <a:rPr lang="en-US" sz="1600"/>
              <a:t>, which disrupted business activities mainly between </a:t>
            </a:r>
            <a:r>
              <a:rPr lang="en-US" sz="1600" b="1"/>
              <a:t>March and May 2020</a:t>
            </a:r>
            <a:r>
              <a:rPr lang="en-US" sz="1600"/>
              <a:t>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413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9F4A-87AE-D561-7A87-03AF3871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A65BB7-D481-FE00-9789-516D85559529}"/>
              </a:ext>
            </a:extLst>
          </p:cNvPr>
          <p:cNvSpPr txBox="1"/>
          <p:nvPr/>
        </p:nvSpPr>
        <p:spPr>
          <a:xfrm>
            <a:off x="68824" y="-19665"/>
            <a:ext cx="112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9</a:t>
            </a:r>
            <a:endParaRPr lang="en-IN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8942F3-97B2-D720-E7BC-4129241D67FD}"/>
              </a:ext>
            </a:extLst>
          </p:cNvPr>
          <p:cNvSpPr txBox="1"/>
          <p:nvPr/>
        </p:nvSpPr>
        <p:spPr>
          <a:xfrm>
            <a:off x="101600" y="-219720"/>
            <a:ext cx="9134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endParaRPr lang="en-IN"/>
          </a:p>
          <a:p>
            <a:r>
              <a:rPr lang="en-US"/>
              <a:t>9. Which channel helped to bring more gross sales in the fiscal year 2021 and the percentage of contribution? The final output contains these fields, </a:t>
            </a:r>
            <a:r>
              <a:rPr lang="en-US" b="1"/>
              <a:t>channel, gross_sales_mln, percentage </a:t>
            </a:r>
            <a:endParaRPr lang="en-IN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FA27B-25B5-BAB7-D5D1-CF996C567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069" y="980609"/>
            <a:ext cx="3229451" cy="1122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C6E7B5-10CD-4B44-6612-7A3AE1755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299" y="2558589"/>
            <a:ext cx="4381134" cy="2452022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5F34138D-5F0C-613A-FE31-D33BA28CCFEE}"/>
              </a:ext>
            </a:extLst>
          </p:cNvPr>
          <p:cNvSpPr/>
          <p:nvPr/>
        </p:nvSpPr>
        <p:spPr>
          <a:xfrm>
            <a:off x="4196080" y="2137814"/>
            <a:ext cx="484632" cy="386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C2EB42-6EA9-9F37-ABF5-38ADA5CB05FD}"/>
              </a:ext>
            </a:extLst>
          </p:cNvPr>
          <p:cNvSpPr txBox="1"/>
          <p:nvPr/>
        </p:nvSpPr>
        <p:spPr>
          <a:xfrm>
            <a:off x="-21472" y="4936170"/>
            <a:ext cx="918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Insights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1FF57-898B-EA95-A0E9-DB2C7A849F30}"/>
              </a:ext>
            </a:extLst>
          </p:cNvPr>
          <p:cNvSpPr txBox="1"/>
          <p:nvPr/>
        </p:nvSpPr>
        <p:spPr>
          <a:xfrm>
            <a:off x="-66040" y="5231060"/>
            <a:ext cx="927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Most of our sales came through </a:t>
            </a:r>
            <a:r>
              <a:rPr lang="en-US" b="1"/>
              <a:t>retailers</a:t>
            </a:r>
            <a:r>
              <a:rPr lang="en-US"/>
              <a:t>, making up around </a:t>
            </a:r>
            <a:r>
              <a:rPr lang="en-US" b="1"/>
              <a:t>75% of the total sales</a:t>
            </a:r>
            <a:r>
              <a:rPr lang="en-US"/>
              <a:t>. Only a small portion of sales came from the </a:t>
            </a:r>
            <a:r>
              <a:rPr lang="en-US" b="1"/>
              <a:t>direct</a:t>
            </a:r>
            <a:r>
              <a:rPr lang="en-US"/>
              <a:t> and </a:t>
            </a:r>
            <a:r>
              <a:rPr lang="en-US" b="1"/>
              <a:t>distributor</a:t>
            </a:r>
            <a:r>
              <a:rPr lang="en-US"/>
              <a:t> channels.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846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DB768-B344-07C3-2B8B-C71698FD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F244A-24C4-77F3-8F77-3051A8D84E25}"/>
              </a:ext>
            </a:extLst>
          </p:cNvPr>
          <p:cNvSpPr txBox="1"/>
          <p:nvPr/>
        </p:nvSpPr>
        <p:spPr>
          <a:xfrm>
            <a:off x="68824" y="-19665"/>
            <a:ext cx="1244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Request 10</a:t>
            </a:r>
            <a:endParaRPr lang="en-IN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EFAC6-97BB-BA49-0C33-558D6EF7262C}"/>
              </a:ext>
            </a:extLst>
          </p:cNvPr>
          <p:cNvSpPr txBox="1"/>
          <p:nvPr/>
        </p:nvSpPr>
        <p:spPr>
          <a:xfrm>
            <a:off x="-21472" y="-19665"/>
            <a:ext cx="893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  <a:p>
            <a:r>
              <a:rPr lang="en-US"/>
              <a:t>10. Get the Top 3 products in each division that have a high total_sold_quantity in the fiscal_year 2021? The final output contains these fields,</a:t>
            </a:r>
            <a:r>
              <a:rPr lang="en-US" b="1"/>
              <a:t> division, product_code</a:t>
            </a:r>
            <a:r>
              <a:rPr lang="en-IN" b="1"/>
              <a:t>,</a:t>
            </a:r>
            <a:r>
              <a:rPr lang="en-US" b="1"/>
              <a:t>product total_sold_quantity, rank_order </a:t>
            </a:r>
            <a:endParaRPr lang="en-IN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CD1EA-387B-DC66-6977-2DFF96664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72" y="1538836"/>
            <a:ext cx="4782427" cy="1647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994363-487D-F46F-6AAB-5845267B4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3473"/>
            <a:ext cx="9144000" cy="36645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A12262-F156-754A-A15A-68549D44661D}"/>
              </a:ext>
            </a:extLst>
          </p:cNvPr>
          <p:cNvSpPr txBox="1"/>
          <p:nvPr/>
        </p:nvSpPr>
        <p:spPr>
          <a:xfrm>
            <a:off x="5110480" y="805752"/>
            <a:ext cx="113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Insights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CD90417-7005-3411-D649-CBA05A80D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761" y="1365122"/>
            <a:ext cx="446024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&amp; Storage (N &amp; S)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category,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pendrives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recorded the highest sales, with nearly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lakh units sold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Peripherals &amp; Accessories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category, 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mouse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the best-selling product, with close to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lakh units sold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category, the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laptop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the top-selling product, with approximately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1,700 units sold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0538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EB375D-49D0-740C-521F-C94AFFBFF199}"/>
              </a:ext>
            </a:extLst>
          </p:cNvPr>
          <p:cNvSpPr/>
          <p:nvPr/>
        </p:nvSpPr>
        <p:spPr>
          <a:xfrm>
            <a:off x="1933672" y="2703174"/>
            <a:ext cx="45077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  <a:endParaRPr lang="en-US" sz="5400" b="1" cap="none" spc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2372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12498</TotalTime>
  <Words>1372</Words>
  <Application>Microsoft Office PowerPoint</Application>
  <PresentationFormat>On-screen Show (4:3)</PresentationFormat>
  <Paragraphs>123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Ad-hoc Business Queries, Insights &amp; Visualizations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Nusaif Ali</cp:lastModifiedBy>
  <cp:revision>6</cp:revision>
  <dcterms:created xsi:type="dcterms:W3CDTF">2013-01-27T09:14:16Z</dcterms:created>
  <dcterms:modified xsi:type="dcterms:W3CDTF">2026-02-07T10:53:42Z</dcterms:modified>
  <cp:category/>
</cp:coreProperties>
</file>